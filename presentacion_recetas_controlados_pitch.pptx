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0:00 - 0:10 (10 segundos)</a:t>
            </a:r>
          </a:p>
          <a:p/>
          <a:p>
            <a:r>
              <a:t>SPEECH:</a:t>
            </a:r>
          </a:p>
          <a:p>
            <a:r>
              <a:t>"Buenos días jurado y comunidad. Hoy les presentamos RecetaVerificable. No venimos a digitalizar la compra de una aspirina o un paracetamol de venta libre. Venimos a resolver el punto crítico donde la falsificación y la reutilización de recetas es un problema de salud pública y seguridad del Estado: los medicamentos controlados, psicotrópicos y estupefacientes que legalmente exigen verificación estricta y un solo uso."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0:10 - 0:35 (25 segundos)</a:t>
            </a:r>
          </a:p>
          <a:p/>
          <a:p>
            <a:r>
              <a:t>SPEECH:</a:t>
            </a:r>
          </a:p>
          <a:p>
            <a:r>
              <a:t>"Seamos muy claros desde el inicio: no entran todos los medicamentos. Una aspirina no necesita blockchain. Nuestro sistema está enfocado exclusivamente en medicamentos controlados, psicotrópicos y estupefacientes que por ley exigen verificación estricta.</a:t>
            </a:r>
          </a:p>
          <a:p/>
          <a:p>
            <a:r>
              <a:t>En Bolivia, el SEDES ya intenta resolver esto con el 'Recetario Valorado': un papel numerado de un solo uso que la farmacia retiene y registra en un libro físico de control. Funciona en teoría, pero en papel se falsifica, se fotocopia y se adultera. Nosotros tomamos esa misma regla de un solo uso y la convertimos en código inmutable sobre Ethereum."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0:35 - 0:50 (15 segundos)</a:t>
            </a:r>
          </a:p>
          <a:p/>
          <a:p>
            <a:r>
              <a:t>SPEECH:</a:t>
            </a:r>
          </a:p>
          <a:p>
            <a:r>
              <a:t>"No inventamos la rueda regulatoria: el recetario valorado del SEDES ya exige que la receta sea de un solo uso y quede asentada en un libro de control.</a:t>
            </a:r>
          </a:p>
          <a:p/>
          <a:p>
            <a:r>
              <a:t>Lo que nosotros hacemos es reemplazar la fragilidad del papel por código: la matrícula médica se valida en EAS, el médico firma con su huella y la retención física del papel se convierte en una función on-chain que revierte irrevocablemente si alguien intenta dispensarla por segunda vez."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0:50 - 2:10 (80 segundos — La mitad de todo el pitch)</a:t>
            </a:r>
          </a:p>
          <a:p/>
          <a:p>
            <a:r>
              <a:t>SPEECH DURANTE LA DEMO:</a:t>
            </a:r>
          </a:p>
          <a:p>
            <a:r>
              <a:t>[0-20s] "Aquí ven la aplicación del médico. Llena la prescripción de un fármaco controlado, confirma con su huella dactilar. Sin extensiones, sin frases semilla, sin comprar un solo wei de ETH."</a:t>
            </a:r>
          </a:p>
          <a:p>
            <a:r>
              <a:t>[20-35s] "Se genera este código QR. Esto es lo único que el paciente se lleva en su teléfono o en papel."</a:t>
            </a:r>
          </a:p>
          <a:p>
            <a:r>
              <a:t>[35-55s] "Ahora pasamos a la farmacia. La farmacéutica escanea el QR con su cámara. En milisegundos comprueba on-chain que el médico emisor tiene credencial profesional activa en EAS, y presiona dispensar. Transacción confirmada en Base Sepolia."</a:t>
            </a:r>
          </a:p>
          <a:p>
            <a:r>
              <a:t>[55-70s] (Vuelven a escanear el mismo QR en vivo. Aparece la pantalla roja gigante de 48px):</a:t>
            </a:r>
          </a:p>
          <a:p>
            <a:r>
              <a:t>"Rechazada. 'AlreadyDispensed': Ya fue dispensada hace treinta segundos por Farmacia San Lucas a las 09:42."</a:t>
            </a:r>
          </a:p>
          <a:p>
            <a:r>
              <a:t>(HACER PAUSA DE 2 SEGUNDOS PARA QUE EL JURADO LO ASIMILE)</a:t>
            </a:r>
          </a:p>
          <a:p>
            <a:r>
              <a:t>[70-80s] "Aquí se acaba la fuga de medicamentos controlados. Y en Basescan pueden ver las dos transacciones: la primera exitosa y la segunda revertida por la máquina virtual de Ethereum."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2:10 - 2:35 (25 segundos)</a:t>
            </a:r>
          </a:p>
          <a:p/>
          <a:p>
            <a:r>
              <a:t>SPEECH:</a:t>
            </a:r>
          </a:p>
          <a:p>
            <a:r>
              <a:t>"Los datos de pacientes que toman medicamentos controlados son extremadamente sensibles. Por eso nuestra arquitectura tiene una regla inquebrantable:</a:t>
            </a:r>
          </a:p>
          <a:p>
            <a:r>
              <a:t>En la cadena pública no vive ningún dato del paciente: no hay nombres, ni números de carnet, ni seudónimos estables. Usamos un compromiso matemático con una sal aleatoria única por cada receta, de modo que nadie en la blockchain pueda siquiera correlacionar si dos recetas pertenecen a la misma persona.</a:t>
            </a:r>
          </a:p>
          <a:p>
            <a:r>
              <a:t>La receta viaja cifrada fuera de cadena, y las matrículas de los médicos autorizados se verifican en EAS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2:35 - 3:00 (25 segundos)</a:t>
            </a:r>
          </a:p>
          <a:p/>
          <a:p>
            <a:r>
              <a:t>SPEECH:</a:t>
            </a:r>
          </a:p>
          <a:p>
            <a:r>
              <a:t>"¿Por qué Ethereum y no una base de datos central? Porque una base de datos central en manos de una cadena farmacéutica o clínica no genera confianza en las demás farmacias competidoras. Ethereum actúa como un registro neutral sin dueño.</a:t>
            </a:r>
          </a:p>
          <a:p/>
          <a:p>
            <a:r>
              <a:t>Y lo hacemos con cuatro piezas nativas:</a:t>
            </a:r>
          </a:p>
          <a:p>
            <a:r>
              <a:t>ERC-4337 y Paymaster para que el médico no pague gas;</a:t>
            </a:r>
          </a:p>
          <a:p>
            <a:r>
              <a:t>Passkeys con RIP-7212 para firmar con la huella;</a:t>
            </a:r>
          </a:p>
          <a:p>
            <a:r>
              <a:t>EIP-712 para ver la receta en texto claro al firmar;</a:t>
            </a:r>
          </a:p>
          <a:p>
            <a:r>
              <a:t>Y EAS para revocar credenciales médicas de inmediato si una autoridad lo dispone."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3:00 - 3:25 (25 segundos)</a:t>
            </a:r>
          </a:p>
          <a:p/>
          <a:p>
            <a:r>
              <a:t>SPEECH:</a:t>
            </a:r>
          </a:p>
          <a:p>
            <a:r>
              <a:t>"¿Quién paga esto? Las Cajas de Salud y el propio SEDES para control epidemiológico de sustancias controladas. No hay token ni cobro al paciente. Para el puente de lanzamiento aplicamos a Base Builder Grants y EF Fellowship.</a:t>
            </a:r>
          </a:p>
          <a:p/>
          <a:p>
            <a:r>
              <a:t>Y somos 100% honestos: bajo la Ley 913 el formulario físico del SEDES no se puede suprimir sin autorización. Por eso nuestro piloto arranca como una capa de trazabilidad complementaria al recetario valorado, preparando la integración con firma digital ADSIB."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3:25 - 3:35 (10 segundos — ¡FIN DEL SHOWCASE!)</a:t>
            </a:r>
          </a:p>
          <a:p/>
          <a:p>
            <a:r>
              <a:t>SPEECH:</a:t>
            </a:r>
          </a:p>
          <a:p>
            <a:r>
              <a:t>"Somos el equipo de RecetaVerificable. Demostramos que Ethereum puede resolver un problema real de salud pública sin fricción cripto. Nuestro pedido hoy es concreto: contacto con el SEDES Cochabamba y el Colegio Médico para validar el piloto cerrado. ¡Muchas gracias, estamos listos para sus preguntas!"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ANTE PREGUNTA:</a:t>
            </a:r>
          </a:p>
          <a:p>
            <a:r>
              <a:t>"Pregunta: ¿Sirve esto para estupefacientes y psicotrópicos, que es donde está el problema?</a:t>
            </a:r>
          </a:p>
          <a:p>
            <a:r>
              <a:t>Respuesta: Exactamente ahí está nuestro foco. Hoy se controlan con el formulario valorado que emite el SEDES y que la farmacia retiene: el papel numerado es el control, y sustituirlo requiere autorización normativa. Por eso no pretendemos suprimir el papel unilateralmente; proponemos una capa complementaria de verificación matemática de un solo uso que asienta la dispensación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ANTE PREGUNTA:</a:t>
            </a:r>
          </a:p>
          <a:p>
            <a:r>
              <a:t>"Una base de datos con firma ADSIB resuelve la autenticidad pero no la unicidad entre organizaciones que no confían entre sí: si cada farmacia tiene su base, ninguna sabe si la receta ya se dispensó en otra. Un registro compartido sin dueño resuelve eso sin que nadie tenga que operar la base de todos ni pedirle permiso. Y además usamos firma ADSIB: no es una alternativa, es la otra mitad."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731520"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9966960" cy="4389120"/>
          </a:xfrm>
          <a:prstGeom prst="rect">
            <a:avLst/>
          </a:prstGeom>
          <a:noFill/>
        </p:spPr>
        <p:txBody>
          <a:bodyPr wrap="square">
            <a:spAutoFit/>
          </a:bodyPr>
          <a:lstStyle/>
          <a:p>
            <a:pPr>
              <a:defRPr sz="1250" b="1">
                <a:solidFill>
                  <a:srgbClr val="0D9488"/>
                </a:solidFill>
              </a:defRPr>
            </a:pPr>
            <a:r>
              <a:t>TRACK 6: REAL-WORLD ETHEREUM APPLICATIONS · ETH BOLIVIA 2026</a:t>
            </a:r>
          </a:p>
          <a:p>
            <a:pPr>
              <a:spcBef>
                <a:spcPts val="1000"/>
              </a:spcBef>
              <a:defRPr sz="4400" b="1">
                <a:solidFill>
                  <a:srgbClr val="FFFFFF"/>
                </a:solidFill>
              </a:defRPr>
            </a:pPr>
            <a:r>
              <a:t>RecetaVerificable</a:t>
            </a:r>
          </a:p>
          <a:p>
            <a:pPr>
              <a:spcBef>
                <a:spcPts val="800"/>
              </a:spcBef>
              <a:defRPr sz="2100">
                <a:solidFill>
                  <a:srgbClr val="CBD5E1"/>
                </a:solidFill>
              </a:defRPr>
            </a:pPr>
            <a:r>
              <a:t>Trazabilidad de un solo uso para medicamentos controlados y estupefacientes sobre Ethereum.</a:t>
            </a:r>
          </a:p>
          <a:p>
            <a:pPr>
              <a:spcBef>
                <a:spcPts val="1600"/>
              </a:spcBef>
              <a:defRPr sz="1400">
                <a:solidFill>
                  <a:srgbClr val="94A3B8"/>
                </a:solidFill>
              </a:defRPr>
            </a:pPr>
            <a:r>
              <a:t>El foco no son todos los medicamentos: es donde el fraude y la reutilización matan y trafican.</a:t>
            </a:r>
            <a:br/>
            <a:r>
              <a:t>Firma con huella en el móvil · Cero frases semilla · Verificación on-chain en mostrador.</a:t>
            </a:r>
          </a:p>
          <a:p>
            <a:pPr>
              <a:spcBef>
                <a:spcPts val="2800"/>
              </a:spcBef>
              <a:defRPr sz="1250">
                <a:solidFill>
                  <a:srgbClr val="2563EB"/>
                </a:solidFill>
              </a:defRPr>
            </a:pPr>
            <a:r>
              <a:t>Desplegado en Base Sepolia L2 · Cochabamba, Bolivia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1 · ALCANCE ENFOCADO Y REALIDAD LOCAL</a:t>
            </a:r>
          </a:p>
          <a:p>
            <a:pPr>
              <a:spcBef>
                <a:spcPts val="300"/>
              </a:spcBef>
              <a:defRPr sz="2300" b="1">
                <a:solidFill>
                  <a:srgbClr val="0F172A"/>
                </a:solidFill>
                <a:latin typeface="Arial"/>
              </a:defRPr>
            </a:pPr>
            <a:r>
              <a:t>El Problema Real: Medicamentos Controlados y Estupefacientes</a:t>
            </a:r>
          </a:p>
          <a:p>
            <a:pPr>
              <a:spcBef>
                <a:spcPts val="200"/>
              </a:spcBef>
              <a:defRPr sz="1250">
                <a:solidFill>
                  <a:srgbClr val="475569"/>
                </a:solidFill>
                <a:latin typeface="Arial"/>
              </a:defRPr>
            </a:pPr>
            <a:r>
              <a:t>No entran todos los medicamentos: el foco es donde la ley ya exige receta de un solo uso.</a:t>
            </a:r>
          </a:p>
        </p:txBody>
      </p:sp>
      <p:sp>
        <p:nvSpPr>
          <p:cNvPr id="4" name="Rounded Rectangle 3"/>
          <p:cNvSpPr/>
          <p:nvPr/>
        </p:nvSpPr>
        <p:spPr>
          <a:xfrm>
            <a:off x="731520" y="1874519"/>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320040" lIns="365760" rIns="365760"/>
          <a:lstStyle/>
          <a:p>
            <a:pPr algn="ctr">
              <a:defRPr sz="1200" b="1">
                <a:solidFill>
                  <a:srgbClr val="DC2626"/>
                </a:solidFill>
              </a:defRPr>
            </a:pPr>
            <a:r>
              <a:t>EL FOCO PRECISO DEL PRODUCTO</a:t>
            </a:r>
          </a:p>
          <a:p>
            <a:pPr>
              <a:spcBef>
                <a:spcPts val="400"/>
              </a:spcBef>
              <a:defRPr sz="1900" b="1">
                <a:solidFill>
                  <a:srgbClr val="0F172A"/>
                </a:solidFill>
              </a:defRPr>
            </a:pPr>
            <a:r>
              <a:t>Donde la reutilización es un delito</a:t>
            </a:r>
          </a:p>
          <a:p>
            <a:pPr>
              <a:spcBef>
                <a:spcPts val="800"/>
              </a:spcBef>
              <a:defRPr sz="1200">
                <a:solidFill>
                  <a:srgbClr val="475569"/>
                </a:solidFill>
              </a:defRPr>
            </a:pPr>
            <a:r>
              <a:t>•  No todos los medicamentos necesitan blockchain: un analgésico de venta libre no tiene incentivo de fraude.</a:t>
            </a:r>
          </a:p>
          <a:p>
            <a:pPr>
              <a:spcBef>
                <a:spcPts val="800"/>
              </a:spcBef>
              <a:defRPr sz="1200">
                <a:solidFill>
                  <a:srgbClr val="475569"/>
                </a:solidFill>
              </a:defRPr>
            </a:pPr>
            <a:r>
              <a:t>•  El problema real: Fármacos controlados, psicotrópicos (Ley 913), opioides y estupefacientes de uso restringido.</a:t>
            </a:r>
          </a:p>
          <a:p>
            <a:pPr>
              <a:spcBef>
                <a:spcPts val="800"/>
              </a:spcBef>
              <a:defRPr sz="1200">
                <a:solidFill>
                  <a:srgbClr val="475569"/>
                </a:solidFill>
              </a:defRPr>
            </a:pPr>
            <a:r>
              <a:t>•  Doctor Shopping: Un paciente saca fotocopias o usa la misma receta en 5 farmacias distintas esa misma mañana.</a:t>
            </a:r>
          </a:p>
          <a:p>
            <a:pPr>
              <a:spcBef>
                <a:spcPts val="800"/>
              </a:spcBef>
              <a:defRPr sz="1200">
                <a:solidFill>
                  <a:srgbClr val="475569"/>
                </a:solidFill>
              </a:defRPr>
            </a:pPr>
            <a:r>
              <a:t>•  La farmacia no puede saber si esa receta ya fue retirada en la farmacia vecina.</a:t>
            </a:r>
          </a:p>
        </p:txBody>
      </p:sp>
      <p:sp>
        <p:nvSpPr>
          <p:cNvPr id="5" name="Rounded Rectangle 4"/>
          <p:cNvSpPr/>
          <p:nvPr/>
        </p:nvSpPr>
        <p:spPr>
          <a:xfrm>
            <a:off x="6309360" y="1874519"/>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320040" lIns="365760" rIns="365760"/>
          <a:lstStyle/>
          <a:p>
            <a:pPr algn="ctr">
              <a:defRPr sz="1200" b="1">
                <a:solidFill>
                  <a:srgbClr val="0D9488"/>
                </a:solidFill>
              </a:defRPr>
            </a:pPr>
            <a:r>
              <a:t>EL ANCLA LEGAL EN BOLIVIA</a:t>
            </a:r>
          </a:p>
          <a:p>
            <a:pPr>
              <a:spcBef>
                <a:spcPts val="400"/>
              </a:spcBef>
              <a:defRPr sz="1900" b="1">
                <a:solidFill>
                  <a:srgbClr val="0F172A"/>
                </a:solidFill>
              </a:defRPr>
            </a:pPr>
            <a:r>
              <a:t>El Recetario Valorado del SEDES</a:t>
            </a:r>
          </a:p>
          <a:p>
            <a:pPr>
              <a:spcBef>
                <a:spcPts val="800"/>
              </a:spcBef>
              <a:defRPr sz="1200">
                <a:solidFill>
                  <a:srgbClr val="475569"/>
                </a:solidFill>
              </a:defRPr>
            </a:pPr>
            <a:r>
              <a:t>•  Bolivia ya aplica este modelo conceptual: El formulario valorado emitido por el Departamento Regional de Farmacia del SEDES.</a:t>
            </a:r>
          </a:p>
          <a:p>
            <a:pPr>
              <a:spcBef>
                <a:spcPts val="800"/>
              </a:spcBef>
              <a:defRPr sz="1200">
                <a:solidFill>
                  <a:srgbClr val="475569"/>
                </a:solidFill>
              </a:defRPr>
            </a:pPr>
            <a:r>
              <a:t>•  Mecanismo en papel: Formulario numerado por una autoridad, de UN SOLO USO, que la farmacia retiene y anota en el Libro de Control.</a:t>
            </a:r>
          </a:p>
          <a:p>
            <a:pPr>
              <a:spcBef>
                <a:spcPts val="800"/>
              </a:spcBef>
              <a:defRPr sz="1200">
                <a:solidFill>
                  <a:srgbClr val="475569"/>
                </a:solidFill>
              </a:defRPr>
            </a:pPr>
            <a:r>
              <a:t>•  La debilidad del papel: Se falsifica, se roba, se adultera el sello y la auditoría ocurre meses después.</a:t>
            </a:r>
          </a:p>
          <a:p>
            <a:pPr>
              <a:spcBef>
                <a:spcPts val="800"/>
              </a:spcBef>
              <a:defRPr sz="1200">
                <a:solidFill>
                  <a:srgbClr val="475569"/>
                </a:solidFill>
              </a:defRPr>
            </a:pPr>
            <a:r>
              <a:t>•  No inventamos el modelo: Digitalizamos en Ethereum la misma garantía de un solo uso que el Estado boliviano ya exige.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2 · SOLUCIÓN</a:t>
            </a:r>
          </a:p>
          <a:p>
            <a:pPr>
              <a:spcBef>
                <a:spcPts val="300"/>
              </a:spcBef>
              <a:defRPr sz="2300" b="1">
                <a:solidFill>
                  <a:srgbClr val="0F172A"/>
                </a:solidFill>
                <a:latin typeface="Arial"/>
              </a:defRPr>
            </a:pPr>
            <a:r>
              <a:t>Del Recetario Físico al Smart Contract</a:t>
            </a:r>
          </a:p>
          <a:p>
            <a:pPr>
              <a:spcBef>
                <a:spcPts val="200"/>
              </a:spcBef>
              <a:defRPr sz="1250">
                <a:solidFill>
                  <a:srgbClr val="475569"/>
                </a:solidFill>
                <a:latin typeface="Arial"/>
              </a:defRPr>
            </a:pPr>
            <a:r>
              <a:t>El mismo modelo regulatorio de Bolivia, respaldado por código matemático.</a:t>
            </a:r>
          </a:p>
        </p:txBody>
      </p:sp>
      <p:sp>
        <p:nvSpPr>
          <p:cNvPr id="4" name="Rounded Rectangle 3"/>
          <p:cNvSpPr/>
          <p:nvPr/>
        </p:nvSpPr>
        <p:spPr>
          <a:xfrm>
            <a:off x="731520" y="1783080"/>
            <a:ext cx="10698480" cy="11887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228600" lIns="365760" rIns="365760"/>
          <a:lstStyle/>
          <a:p>
            <a:pPr algn="ctr">
              <a:defRPr sz="1650" b="1">
                <a:solidFill>
                  <a:srgbClr val="0F172A"/>
                </a:solidFill>
              </a:defRPr>
            </a:pPr>
            <a:r>
              <a:t>“Bolivia ya tiene un sistema de uso único numerado por autoridad y retenido como prueba: el recetario valorado del SEDES. Lo trasladamos a una infraestructura donde el uso único es una certeza matemática.”</a:t>
            </a:r>
          </a:p>
        </p:txBody>
      </p:sp>
      <p:sp>
        <p:nvSpPr>
          <p:cNvPr id="5" name="Rounded Rectangle 4"/>
          <p:cNvSpPr/>
          <p:nvPr/>
        </p:nvSpPr>
        <p:spPr>
          <a:xfrm>
            <a:off x="731520" y="3154680"/>
            <a:ext cx="5212080" cy="320040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defRPr sz="1400" b="1">
                <a:solidFill>
                  <a:srgbClr val="475569"/>
                </a:solidFill>
              </a:defRPr>
            </a:pPr>
            <a:r>
              <a:t>MECANISMO EN PAPEL (SEDES)</a:t>
            </a:r>
          </a:p>
          <a:p>
            <a:pPr>
              <a:spcBef>
                <a:spcPts val="700"/>
              </a:spcBef>
              <a:defRPr sz="1200">
                <a:solidFill>
                  <a:srgbClr val="475569"/>
                </a:solidFill>
              </a:defRPr>
            </a:pPr>
            <a:r>
              <a:t>•  Formulario numerado en imprenta oficial</a:t>
            </a:r>
          </a:p>
          <a:p>
            <a:pPr>
              <a:spcBef>
                <a:spcPts val="700"/>
              </a:spcBef>
              <a:defRPr sz="1200">
                <a:solidFill>
                  <a:srgbClr val="475569"/>
                </a:solidFill>
              </a:defRPr>
            </a:pPr>
            <a:r>
              <a:t>•  Sello húmedo y firma manual del médico</a:t>
            </a:r>
          </a:p>
          <a:p>
            <a:pPr>
              <a:spcBef>
                <a:spcPts val="700"/>
              </a:spcBef>
              <a:defRPr sz="1200">
                <a:solidFill>
                  <a:srgbClr val="475569"/>
                </a:solidFill>
              </a:defRPr>
            </a:pPr>
            <a:r>
              <a:t>•  La farmacia retiene el papel en mostrador</a:t>
            </a:r>
          </a:p>
          <a:p>
            <a:pPr>
              <a:spcBef>
                <a:spcPts val="700"/>
              </a:spcBef>
              <a:defRPr sz="1200">
                <a:solidFill>
                  <a:srgbClr val="475569"/>
                </a:solidFill>
              </a:defRPr>
            </a:pPr>
            <a:r>
              <a:t>•  Asiento manual en el Libro de Psicotrópicos</a:t>
            </a:r>
          </a:p>
          <a:p>
            <a:pPr>
              <a:spcBef>
                <a:spcPts val="700"/>
              </a:spcBef>
              <a:defRPr sz="1200">
                <a:solidFill>
                  <a:srgbClr val="475569"/>
                </a:solidFill>
              </a:defRPr>
            </a:pPr>
            <a:r>
              <a:t>•  Vulnerabilidad: Fotocopias y firmas falsificadas</a:t>
            </a:r>
          </a:p>
        </p:txBody>
      </p:sp>
      <p:sp>
        <p:nvSpPr>
          <p:cNvPr id="6" name="Rounded Rectangle 5"/>
          <p:cNvSpPr/>
          <p:nvPr/>
        </p:nvSpPr>
        <p:spPr>
          <a:xfrm>
            <a:off x="6217920" y="3154680"/>
            <a:ext cx="5212080" cy="32004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defRPr sz="1400" b="1">
                <a:solidFill>
                  <a:srgbClr val="0D9488"/>
                </a:solidFill>
              </a:defRPr>
            </a:pPr>
            <a:r>
              <a:t>RECETAVERIFICABLE EN BASE L2</a:t>
            </a:r>
          </a:p>
          <a:p>
            <a:pPr>
              <a:spcBef>
                <a:spcPts val="700"/>
              </a:spcBef>
              <a:defRPr sz="1200">
                <a:solidFill>
                  <a:srgbClr val="475569"/>
                </a:solidFill>
              </a:defRPr>
            </a:pPr>
            <a:r>
              <a:t>•  Hash emitido bajo Smart Account acreditada</a:t>
            </a:r>
          </a:p>
          <a:p>
            <a:pPr>
              <a:spcBef>
                <a:spcPts val="700"/>
              </a:spcBef>
              <a:defRPr sz="1200">
                <a:solidFill>
                  <a:srgbClr val="475569"/>
                </a:solidFill>
              </a:defRPr>
            </a:pPr>
            <a:r>
              <a:t>•  Firma biométrica con Passkey (P-256) + EAS</a:t>
            </a:r>
          </a:p>
          <a:p>
            <a:pPr>
              <a:spcBef>
                <a:spcPts val="700"/>
              </a:spcBef>
              <a:defRPr sz="1200">
                <a:solidFill>
                  <a:srgbClr val="475569"/>
                </a:solidFill>
              </a:defRPr>
            </a:pPr>
            <a:r>
              <a:t>•  El contrato ejecuta dispense() y bloquea el hash</a:t>
            </a:r>
          </a:p>
          <a:p>
            <a:pPr>
              <a:spcBef>
                <a:spcPts val="700"/>
              </a:spcBef>
              <a:defRPr sz="1200">
                <a:solidFill>
                  <a:srgbClr val="475569"/>
                </a:solidFill>
              </a:defRPr>
            </a:pPr>
            <a:r>
              <a:t>•  Evento on-chain inmutable con emisor y hora</a:t>
            </a:r>
          </a:p>
          <a:p>
            <a:pPr>
              <a:spcBef>
                <a:spcPts val="700"/>
              </a:spcBef>
              <a:defRPr sz="1200">
                <a:solidFill>
                  <a:srgbClr val="475569"/>
                </a:solidFill>
              </a:defRPr>
            </a:pPr>
            <a:r>
              <a:t>•  Garantía: Segundo intento revierte automáticamente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3 · EL NÚCLEO DEL SHOWCASE (80S)</a:t>
            </a:r>
          </a:p>
          <a:p>
            <a:pPr>
              <a:spcBef>
                <a:spcPts val="300"/>
              </a:spcBef>
              <a:defRPr sz="2300" b="1">
                <a:solidFill>
                  <a:srgbClr val="0F172A"/>
                </a:solidFill>
                <a:latin typeface="Arial"/>
              </a:defRPr>
            </a:pPr>
            <a:r>
              <a:t>La Demo en Vivo: Impidiendo el Fraude en Mostrador</a:t>
            </a:r>
          </a:p>
          <a:p>
            <a:pPr>
              <a:spcBef>
                <a:spcPts val="200"/>
              </a:spcBef>
              <a:defRPr sz="1250">
                <a:solidFill>
                  <a:srgbClr val="475569"/>
                </a:solidFill>
                <a:latin typeface="Arial"/>
              </a:defRPr>
            </a:pPr>
            <a:r>
              <a:t>El flujo completo de dispensación controlada hasta el revert AlreadyDispensed.</a:t>
            </a:r>
          </a:p>
        </p:txBody>
      </p:sp>
      <p:sp>
        <p:nvSpPr>
          <p:cNvPr id="4" name="Rounded Rectangle 3"/>
          <p:cNvSpPr/>
          <p:nvPr/>
        </p:nvSpPr>
        <p:spPr>
          <a:xfrm>
            <a:off x="731520" y="1783080"/>
            <a:ext cx="251460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2563EB"/>
                </a:solidFill>
              </a:defRPr>
            </a:pPr>
            <a:r>
              <a:t>1. Médico Autorizado</a:t>
            </a:r>
          </a:p>
          <a:p>
            <a:pPr>
              <a:spcBef>
                <a:spcPts val="800"/>
              </a:spcBef>
              <a:defRPr sz="1100">
                <a:solidFill>
                  <a:srgbClr val="475569"/>
                </a:solidFill>
              </a:defRPr>
            </a:pPr>
            <a:r>
              <a:t>Emite receta de medicamento controlado y autoriza con Passkey biométrica (P-256).</a:t>
            </a:r>
          </a:p>
        </p:txBody>
      </p:sp>
      <p:sp>
        <p:nvSpPr>
          <p:cNvPr id="5" name="Rounded Rectangle 4"/>
          <p:cNvSpPr/>
          <p:nvPr/>
        </p:nvSpPr>
        <p:spPr>
          <a:xfrm>
            <a:off x="3493008" y="1783080"/>
            <a:ext cx="2514600" cy="20116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D9488"/>
                </a:solidFill>
              </a:defRPr>
            </a:pPr>
            <a:r>
              <a:t>2. QR Cifrado</a:t>
            </a:r>
          </a:p>
          <a:p>
            <a:pPr>
              <a:spcBef>
                <a:spcPts val="800"/>
              </a:spcBef>
              <a:defRPr sz="1100">
                <a:solidFill>
                  <a:srgbClr val="475569"/>
                </a:solidFill>
              </a:defRPr>
            </a:pPr>
            <a:r>
              <a:t>Transporta el compromiso matemático y la clave. Cero datos en claro del paciente.</a:t>
            </a:r>
          </a:p>
        </p:txBody>
      </p:sp>
      <p:sp>
        <p:nvSpPr>
          <p:cNvPr id="6" name="Rounded Rectangle 5"/>
          <p:cNvSpPr/>
          <p:nvPr/>
        </p:nvSpPr>
        <p:spPr>
          <a:xfrm>
            <a:off x="6254496" y="1783080"/>
            <a:ext cx="251460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16A34A"/>
                </a:solidFill>
              </a:defRPr>
            </a:pPr>
            <a:r>
              <a:t>3. Farmacia 1 Dispensa</a:t>
            </a:r>
          </a:p>
          <a:p>
            <a:pPr>
              <a:spcBef>
                <a:spcPts val="800"/>
              </a:spcBef>
              <a:defRPr sz="1100">
                <a:solidFill>
                  <a:srgbClr val="475569"/>
                </a:solidFill>
              </a:defRPr>
            </a:pPr>
            <a:r>
              <a:t>Verifica acreditación del médico en EAS, despacha y registra la dispensación on-chain.</a:t>
            </a:r>
          </a:p>
        </p:txBody>
      </p:sp>
      <p:sp>
        <p:nvSpPr>
          <p:cNvPr id="7" name="Rounded Rectangle 6"/>
          <p:cNvSpPr/>
          <p:nvPr/>
        </p:nvSpPr>
        <p:spPr>
          <a:xfrm>
            <a:off x="9015984" y="1783080"/>
            <a:ext cx="2514600" cy="20116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DC2626"/>
                </a:solidFill>
              </a:defRPr>
            </a:pPr>
            <a:r>
              <a:t>4. Farmacia 2 / Reintento</a:t>
            </a:r>
          </a:p>
          <a:p>
            <a:pPr>
              <a:spcBef>
                <a:spcPts val="800"/>
              </a:spcBef>
              <a:defRPr sz="1100">
                <a:solidFill>
                  <a:srgbClr val="475569"/>
                </a:solidFill>
              </a:defRPr>
            </a:pPr>
            <a:r>
              <a:t>Se presenta el mismo QR en otra farmacia ➔ RECHAZADO con hora y farmacia previa.</a:t>
            </a:r>
          </a:p>
        </p:txBody>
      </p:sp>
      <p:sp>
        <p:nvSpPr>
          <p:cNvPr id="8" name="Rounded Rectangle 7"/>
          <p:cNvSpPr/>
          <p:nvPr/>
        </p:nvSpPr>
        <p:spPr>
          <a:xfrm>
            <a:off x="731520" y="4023360"/>
            <a:ext cx="10698480" cy="2286000"/>
          </a:xfrm>
          <a:prstGeom prst="roundRect">
            <a:avLst/>
          </a:prstGeom>
          <a:solidFill>
            <a:srgbClr val="FEF2F2"/>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defRPr sz="1200" b="1">
                <a:solidFill>
                  <a:srgbClr val="DC2626"/>
                </a:solidFill>
              </a:defRPr>
            </a:pPr>
            <a:r>
              <a:t>EL RESULTADO ON-CHAIN QUE EL JURADO DEBE RECORDAR:</a:t>
            </a:r>
          </a:p>
          <a:p>
            <a:pPr>
              <a:spcBef>
                <a:spcPts val="300"/>
              </a:spcBef>
              <a:defRPr sz="3000" b="1">
                <a:solidFill>
                  <a:srgbClr val="DC2626"/>
                </a:solidFill>
              </a:defRPr>
            </a:pPr>
            <a:r>
              <a:t>❌ RECHAZADA: Medicamento Ya Dispensado</a:t>
            </a:r>
          </a:p>
          <a:p>
            <a:pPr>
              <a:spcBef>
                <a:spcPts val="500"/>
              </a:spcBef>
              <a:defRPr sz="1400" b="1">
                <a:solidFill>
                  <a:srgbClr val="0F172A"/>
                </a:solidFill>
                <a:latin typeface="Consolas"/>
              </a:defRPr>
            </a:pPr>
            <a:r>
              <a:t>Error AlreadyDispensed(dispensedBy: 0x7a8b...3f9c, dispensedAt: 11/09/2026 09:42:15)</a:t>
            </a:r>
          </a:p>
          <a:p>
            <a:pPr>
              <a:spcBef>
                <a:spcPts val="300"/>
              </a:spcBef>
              <a:defRPr sz="1250">
                <a:solidFill>
                  <a:srgbClr val="475569"/>
                </a:solidFill>
              </a:defRPr>
            </a:pPr>
            <a:r>
              <a:t>Se acabó el 'doctor shopping': el contrato bloquea la segunda entrega sin importar la farmacia ni el operador.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4 · RIGOR TÉCNICO</a:t>
            </a:r>
          </a:p>
          <a:p>
            <a:pPr>
              <a:spcBef>
                <a:spcPts val="300"/>
              </a:spcBef>
              <a:defRPr sz="2300" b="1">
                <a:solidFill>
                  <a:srgbClr val="0F172A"/>
                </a:solidFill>
                <a:latin typeface="Arial"/>
              </a:defRPr>
            </a:pPr>
            <a:r>
              <a:t>Arquitectura: Máxima Privacidad para Datos Médicos Sensibles</a:t>
            </a:r>
          </a:p>
          <a:p>
            <a:pPr>
              <a:spcBef>
                <a:spcPts val="200"/>
              </a:spcBef>
              <a:defRPr sz="1250">
                <a:solidFill>
                  <a:srgbClr val="475569"/>
                </a:solidFill>
                <a:latin typeface="Arial"/>
              </a:defRPr>
            </a:pPr>
            <a:r>
              <a:t>Un diagrama, tres cajas: diagnóstico y paciente completamente blindados.</a:t>
            </a:r>
          </a:p>
        </p:txBody>
      </p:sp>
      <p:sp>
        <p:nvSpPr>
          <p:cNvPr id="4" name="Rounded Rectangle 3"/>
          <p:cNvSpPr/>
          <p:nvPr/>
        </p:nvSpPr>
        <p:spPr>
          <a:xfrm>
            <a:off x="731520" y="1920240"/>
            <a:ext cx="333756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200" b="1">
                <a:solidFill>
                  <a:srgbClr val="0D9488"/>
                </a:solidFill>
              </a:defRPr>
            </a:pPr>
            <a:r>
              <a:t>1. OFF-CHAIN CIFRADO</a:t>
            </a:r>
          </a:p>
          <a:p>
            <a:pPr>
              <a:spcBef>
                <a:spcPts val="400"/>
              </a:spcBef>
              <a:defRPr sz="1700" b="1">
                <a:solidFill>
                  <a:srgbClr val="0F172A"/>
                </a:solidFill>
              </a:defRPr>
            </a:pPr>
            <a:r>
              <a:t>Datos Clínicos Protegidos</a:t>
            </a:r>
          </a:p>
          <a:p>
            <a:pPr>
              <a:spcBef>
                <a:spcPts val="1000"/>
              </a:spcBef>
              <a:defRPr sz="1200">
                <a:solidFill>
                  <a:srgbClr val="475569"/>
                </a:solidFill>
              </a:defRPr>
            </a:pPr>
            <a:r>
              <a:t>•  Los diagnósticos de salud mental, adicciones o dolor severo son ultra-sensibles.</a:t>
            </a:r>
          </a:p>
          <a:p>
            <a:pPr>
              <a:spcBef>
                <a:spcPts val="1000"/>
              </a:spcBef>
              <a:defRPr sz="1200">
                <a:solidFill>
                  <a:srgbClr val="475569"/>
                </a:solidFill>
              </a:defRPr>
            </a:pPr>
            <a:r>
              <a:t>•  Payload cifrado con AES-256-GCM punto a punto.</a:t>
            </a:r>
          </a:p>
          <a:p>
            <a:pPr>
              <a:spcBef>
                <a:spcPts val="1000"/>
              </a:spcBef>
              <a:defRPr sz="1200">
                <a:solidFill>
                  <a:srgbClr val="475569"/>
                </a:solidFill>
              </a:defRPr>
            </a:pPr>
            <a:r>
              <a:t>•  Solo quien tiene el QR con la clave de sobre puede leer el tratamiento.</a:t>
            </a:r>
          </a:p>
        </p:txBody>
      </p:sp>
      <p:sp>
        <p:nvSpPr>
          <p:cNvPr id="5" name="Rounded Rectangle 4"/>
          <p:cNvSpPr/>
          <p:nvPr/>
        </p:nvSpPr>
        <p:spPr>
          <a:xfrm>
            <a:off x="4434840" y="1920240"/>
            <a:ext cx="333756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200" b="1">
                <a:solidFill>
                  <a:srgbClr val="2563EB"/>
                </a:solidFill>
              </a:defRPr>
            </a:pPr>
            <a:r>
              <a:t>2. ON-CHAIN (BASE L2)</a:t>
            </a:r>
          </a:p>
          <a:p>
            <a:pPr>
              <a:spcBef>
                <a:spcPts val="400"/>
              </a:spcBef>
              <a:defRPr sz="1700" b="1">
                <a:solidFill>
                  <a:srgbClr val="0F172A"/>
                </a:solidFill>
              </a:defRPr>
            </a:pPr>
            <a:r>
              <a:t>PrescriptionRegistry</a:t>
            </a:r>
          </a:p>
          <a:p>
            <a:pPr>
              <a:spcBef>
                <a:spcPts val="1000"/>
              </a:spcBef>
              <a:defRPr sz="1200">
                <a:solidFill>
                  <a:srgbClr val="475569"/>
                </a:solidFill>
              </a:defRPr>
            </a:pPr>
            <a:r>
              <a:t>•  CERO identificadores de paciente on-chain (ni nombres, ni CI, ni seudónimos estables).</a:t>
            </a:r>
          </a:p>
          <a:p>
            <a:pPr>
              <a:spcBef>
                <a:spcPts val="1000"/>
              </a:spcBef>
              <a:defRPr sz="1200">
                <a:solidFill>
                  <a:srgbClr val="475569"/>
                </a:solidFill>
              </a:defRPr>
            </a:pPr>
            <a:r>
              <a:t>•  Compromiso criptográfico con sal: keccak256(cédula, sal).</a:t>
            </a:r>
          </a:p>
          <a:p>
            <a:pPr>
              <a:spcBef>
                <a:spcPts val="1000"/>
              </a:spcBef>
              <a:defRPr sz="1200">
                <a:solidFill>
                  <a:srgbClr val="475569"/>
                </a:solidFill>
              </a:defRPr>
            </a:pPr>
            <a:r>
              <a:t>•  Sal aleatoria única por receta: imposible perfilar o correlacionar recetas de un mismo paciente.</a:t>
            </a:r>
          </a:p>
        </p:txBody>
      </p:sp>
      <p:sp>
        <p:nvSpPr>
          <p:cNvPr id="6" name="Rounded Rectangle 5"/>
          <p:cNvSpPr/>
          <p:nvPr/>
        </p:nvSpPr>
        <p:spPr>
          <a:xfrm>
            <a:off x="8138160" y="1920240"/>
            <a:ext cx="3337560" cy="4297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200" b="1">
                <a:solidFill>
                  <a:srgbClr val="16A34A"/>
                </a:solidFill>
              </a:defRPr>
            </a:pPr>
            <a:r>
              <a:t>3. CREDENCIALES EAS</a:t>
            </a:r>
          </a:p>
          <a:p>
            <a:pPr>
              <a:spcBef>
                <a:spcPts val="400"/>
              </a:spcBef>
              <a:defRPr sz="1700" b="1">
                <a:solidFill>
                  <a:srgbClr val="0F172A"/>
                </a:solidFill>
              </a:defRPr>
            </a:pPr>
            <a:r>
              <a:t>Acreditación Profesional</a:t>
            </a:r>
          </a:p>
          <a:p>
            <a:pPr>
              <a:spcBef>
                <a:spcPts val="1000"/>
              </a:spcBef>
              <a:defRPr sz="1200">
                <a:solidFill>
                  <a:srgbClr val="475569"/>
                </a:solidFill>
              </a:defRPr>
            </a:pPr>
            <a:r>
              <a:t>•  Attestations en EAS para médicos autorizados a prescribir controlados.</a:t>
            </a:r>
          </a:p>
          <a:p>
            <a:pPr>
              <a:spcBef>
                <a:spcPts val="1000"/>
              </a:spcBef>
              <a:defRPr sz="1200">
                <a:solidFill>
                  <a:srgbClr val="475569"/>
                </a:solidFill>
              </a:defRPr>
            </a:pPr>
            <a:r>
              <a:t>•  Validación estricta de matrícula antes de permitir la emisión.</a:t>
            </a:r>
          </a:p>
          <a:p>
            <a:pPr>
              <a:spcBef>
                <a:spcPts val="1000"/>
              </a:spcBef>
              <a:defRPr sz="1200">
                <a:solidFill>
                  <a:srgbClr val="475569"/>
                </a:solidFill>
              </a:defRPr>
            </a:pPr>
            <a:r>
              <a:t>•  Si el SEDES o Colegio Médico suspende una licencia, la emisión se corta al segundo.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5 · TOOLKIT WEB3</a:t>
            </a:r>
          </a:p>
          <a:p>
            <a:pPr>
              <a:spcBef>
                <a:spcPts val="300"/>
              </a:spcBef>
              <a:defRPr sz="2300" b="1">
                <a:solidFill>
                  <a:srgbClr val="0F172A"/>
                </a:solidFill>
                <a:latin typeface="Arial"/>
              </a:defRPr>
            </a:pPr>
            <a:r>
              <a:t>¿Por qué es Ethereum-Nativo y no una BD Tradicional?</a:t>
            </a:r>
          </a:p>
          <a:p>
            <a:pPr>
              <a:spcBef>
                <a:spcPts val="200"/>
              </a:spcBef>
              <a:defRPr sz="1250">
                <a:solidFill>
                  <a:srgbClr val="475569"/>
                </a:solidFill>
                <a:latin typeface="Arial"/>
              </a:defRPr>
            </a:pPr>
            <a:r>
              <a:t>Cuatro tecnologías que resuelven la adopción médica sin tocar criptomonedas.</a:t>
            </a:r>
          </a:p>
        </p:txBody>
      </p:sp>
      <p:sp>
        <p:nvSpPr>
          <p:cNvPr id="4" name="Rounded Rectangle 3"/>
          <p:cNvSpPr/>
          <p:nvPr/>
        </p:nvSpPr>
        <p:spPr>
          <a:xfrm>
            <a:off x="731520" y="1874519"/>
            <a:ext cx="52120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2563EB"/>
                </a:solidFill>
              </a:defRPr>
            </a:pPr>
            <a:r>
              <a:t>ERC-4337 &amp; Paymaster</a:t>
            </a:r>
          </a:p>
          <a:p>
            <a:pPr>
              <a:spcBef>
                <a:spcPts val="400"/>
              </a:spcBef>
              <a:defRPr sz="1150">
                <a:solidFill>
                  <a:srgbClr val="475569"/>
                </a:solidFill>
              </a:defRPr>
            </a:pPr>
            <a:r>
              <a:t>•  El médico nunca compra ETH ni gestiona gas.</a:t>
            </a:r>
          </a:p>
          <a:p>
            <a:pPr>
              <a:spcBef>
                <a:spcPts val="400"/>
              </a:spcBef>
              <a:defRPr sz="1150">
                <a:solidFill>
                  <a:srgbClr val="475569"/>
                </a:solidFill>
              </a:defRPr>
            </a:pPr>
            <a:r>
              <a:t>•  Un Paymaster patrocina transacciones con política estricta: solo a médicos con credencial profesional vigente.</a:t>
            </a:r>
          </a:p>
          <a:p>
            <a:pPr>
              <a:spcBef>
                <a:spcPts val="400"/>
              </a:spcBef>
              <a:defRPr sz="1150">
                <a:solidFill>
                  <a:srgbClr val="475569"/>
                </a:solidFill>
              </a:defRPr>
            </a:pPr>
            <a:r>
              <a:t>•  Despliegue diferido de smart accounts.</a:t>
            </a:r>
          </a:p>
        </p:txBody>
      </p:sp>
      <p:sp>
        <p:nvSpPr>
          <p:cNvPr id="5" name="Rounded Rectangle 4"/>
          <p:cNvSpPr/>
          <p:nvPr/>
        </p:nvSpPr>
        <p:spPr>
          <a:xfrm>
            <a:off x="6217920" y="1874519"/>
            <a:ext cx="52120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0D9488"/>
                </a:solidFill>
              </a:defRPr>
            </a:pPr>
            <a:r>
              <a:t>Passkeys &amp; RIP-7212</a:t>
            </a:r>
          </a:p>
          <a:p>
            <a:pPr>
              <a:spcBef>
                <a:spcPts val="400"/>
              </a:spcBef>
              <a:defRPr sz="1150">
                <a:solidFill>
                  <a:srgbClr val="475569"/>
                </a:solidFill>
              </a:defRPr>
            </a:pPr>
            <a:r>
              <a:t>•  Firma biométrica con el chip de seguridad del teléfono.</a:t>
            </a:r>
          </a:p>
          <a:p>
            <a:pPr>
              <a:spcBef>
                <a:spcPts val="400"/>
              </a:spcBef>
              <a:defRPr sz="1150">
                <a:solidFill>
                  <a:srgbClr val="475569"/>
                </a:solidFill>
              </a:defRPr>
            </a:pPr>
            <a:r>
              <a:t>•  Curva secp256r1 verificada de forma nativa en L2 gracias al precompilado RIP-7212.</a:t>
            </a:r>
          </a:p>
          <a:p>
            <a:pPr>
              <a:spcBef>
                <a:spcPts val="400"/>
              </a:spcBef>
              <a:defRPr sz="1150">
                <a:solidFill>
                  <a:srgbClr val="475569"/>
                </a:solidFill>
              </a:defRPr>
            </a:pPr>
            <a:r>
              <a:t>•  Sin frases semilla que un médico pueda perder o exponer.</a:t>
            </a:r>
          </a:p>
        </p:txBody>
      </p:sp>
      <p:sp>
        <p:nvSpPr>
          <p:cNvPr id="6" name="Rounded Rectangle 5"/>
          <p:cNvSpPr/>
          <p:nvPr/>
        </p:nvSpPr>
        <p:spPr>
          <a:xfrm>
            <a:off x="731520" y="4160520"/>
            <a:ext cx="52120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16A34A"/>
                </a:solidFill>
              </a:defRPr>
            </a:pPr>
            <a:r>
              <a:t>EIP-712 Typed Data</a:t>
            </a:r>
          </a:p>
          <a:p>
            <a:pPr>
              <a:spcBef>
                <a:spcPts val="400"/>
              </a:spcBef>
              <a:defRPr sz="1150">
                <a:solidFill>
                  <a:srgbClr val="475569"/>
                </a:solidFill>
              </a:defRPr>
            </a:pPr>
            <a:r>
              <a:t>•  Firma de datos legibles off-chain.</a:t>
            </a:r>
          </a:p>
          <a:p>
            <a:pPr>
              <a:spcBef>
                <a:spcPts val="400"/>
              </a:spcBef>
              <a:defRPr sz="1150">
                <a:solidFill>
                  <a:srgbClr val="475569"/>
                </a:solidFill>
              </a:defRPr>
            </a:pPr>
            <a:r>
              <a:t>•  El médico ve en pantalla exactamente qué fármaco controlado receta y en qué dosis, no un hash hexadecimal.</a:t>
            </a:r>
          </a:p>
          <a:p>
            <a:pPr>
              <a:spcBef>
                <a:spcPts val="400"/>
              </a:spcBef>
              <a:defRPr sz="1150">
                <a:solidFill>
                  <a:srgbClr val="475569"/>
                </a:solidFill>
              </a:defRPr>
            </a:pPr>
            <a:r>
              <a:t>•  Transportado de forma segura en el código QR.</a:t>
            </a:r>
          </a:p>
        </p:txBody>
      </p:sp>
      <p:sp>
        <p:nvSpPr>
          <p:cNvPr id="7" name="Rounded Rectangle 6"/>
          <p:cNvSpPr/>
          <p:nvPr/>
        </p:nvSpPr>
        <p:spPr>
          <a:xfrm>
            <a:off x="6217920" y="4160520"/>
            <a:ext cx="52120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600" b="1">
                <a:solidFill>
                  <a:srgbClr val="DC2626"/>
                </a:solidFill>
              </a:defRPr>
            </a:pPr>
            <a:r>
              <a:t>EAS (Attestations)</a:t>
            </a:r>
          </a:p>
          <a:p>
            <a:pPr>
              <a:spcBef>
                <a:spcPts val="400"/>
              </a:spcBef>
              <a:defRPr sz="1150">
                <a:solidFill>
                  <a:srgbClr val="475569"/>
                </a:solidFill>
              </a:defRPr>
            </a:pPr>
            <a:r>
              <a:t>•  Ethereum Attestation Service como registro descentralizado de habilitación profesional.</a:t>
            </a:r>
          </a:p>
          <a:p>
            <a:pPr>
              <a:spcBef>
                <a:spcPts val="400"/>
              </a:spcBef>
              <a:defRPr sz="1150">
                <a:solidFill>
                  <a:srgbClr val="475569"/>
                </a:solidFill>
              </a:defRPr>
            </a:pPr>
            <a:r>
              <a:t>•  Revocación instantánea: si se suspende la licencia médica, deja de emitir en el mismo bloque.</a:t>
            </a:r>
          </a:p>
          <a:p>
            <a:pPr>
              <a:spcBef>
                <a:spcPts val="400"/>
              </a:spcBef>
              <a:defRPr sz="1150">
                <a:solidFill>
                  <a:srgbClr val="475569"/>
                </a:solidFill>
              </a:defRPr>
            </a:pPr>
            <a:r>
              <a:t>•  Auditoría pública sin servidores centrales monopolizados.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BLOQUE 6 · VIABILIDAD Y AUTORIDAD</a:t>
            </a:r>
          </a:p>
          <a:p>
            <a:pPr>
              <a:spcBef>
                <a:spcPts val="300"/>
              </a:spcBef>
              <a:defRPr sz="2300" b="1">
                <a:solidFill>
                  <a:srgbClr val="0F172A"/>
                </a:solidFill>
                <a:latin typeface="Arial"/>
              </a:defRPr>
            </a:pPr>
            <a:r>
              <a:t>Sostenibilidad, SEDES y Honestidad</a:t>
            </a:r>
          </a:p>
          <a:p>
            <a:pPr>
              <a:spcBef>
                <a:spcPts val="200"/>
              </a:spcBef>
              <a:defRPr sz="1250">
                <a:solidFill>
                  <a:srgbClr val="475569"/>
                </a:solidFill>
                <a:latin typeface="Arial"/>
              </a:defRPr>
            </a:pPr>
            <a:r>
              <a:t>Quién financia el sistema y qué reconocemos con transparencia.</a:t>
            </a:r>
          </a:p>
        </p:txBody>
      </p:sp>
      <p:sp>
        <p:nvSpPr>
          <p:cNvPr id="4" name="Rounded Rectangle 3"/>
          <p:cNvSpPr/>
          <p:nvPr/>
        </p:nvSpPr>
        <p:spPr>
          <a:xfrm>
            <a:off x="731520" y="1874519"/>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defRPr sz="1200" b="1">
                <a:solidFill>
                  <a:srgbClr val="0D9488"/>
                </a:solidFill>
              </a:defRPr>
            </a:pPr>
            <a:r>
              <a:t>SOSTENIBILIDAD INSTITUCIONAL</a:t>
            </a:r>
          </a:p>
          <a:p>
            <a:pPr>
              <a:spcBef>
                <a:spcPts val="400"/>
              </a:spcBef>
              <a:defRPr sz="1800" b="1">
                <a:solidFill>
                  <a:srgbClr val="0F172A"/>
                </a:solidFill>
              </a:defRPr>
            </a:pPr>
            <a:r>
              <a:t>Quién paga (Sin Tokens ni Cobro al Paciente)</a:t>
            </a:r>
          </a:p>
          <a:p>
            <a:pPr>
              <a:spcBef>
                <a:spcPts val="800"/>
              </a:spcBef>
              <a:defRPr sz="1200">
                <a:solidFill>
                  <a:srgbClr val="475569"/>
                </a:solidFill>
              </a:defRPr>
            </a:pPr>
            <a:r>
              <a:t>•  SEDES Cochabamba: Vigilancia epidemiológica de estupefacientes y agregados sin identidad de paciente.</a:t>
            </a:r>
          </a:p>
          <a:p>
            <a:pPr>
              <a:spcBef>
                <a:spcPts val="800"/>
              </a:spcBef>
              <a:defRPr sz="1200">
                <a:solidFill>
                  <a:srgbClr val="475569"/>
                </a:solidFill>
              </a:defRPr>
            </a:pPr>
            <a:r>
              <a:t>•  Cajas de Salud y Clínicas: Eliminación del doble cobro en reembolsos farmacéuticos.</a:t>
            </a:r>
          </a:p>
          <a:p>
            <a:pPr>
              <a:spcBef>
                <a:spcPts val="800"/>
              </a:spcBef>
              <a:defRPr sz="1200">
                <a:solidFill>
                  <a:srgbClr val="475569"/>
                </a:solidFill>
              </a:defRPr>
            </a:pPr>
            <a:r>
              <a:t>•  Cero cobro al paciente y cero tokens de especulación.</a:t>
            </a:r>
          </a:p>
          <a:p>
            <a:pPr>
              <a:spcBef>
                <a:spcPts val="800"/>
              </a:spcBef>
              <a:defRPr sz="1200">
                <a:solidFill>
                  <a:srgbClr val="475569"/>
                </a:solidFill>
              </a:defRPr>
            </a:pPr>
            <a:r>
              <a:t>•  Financiación Puente: Base Builder Grants y Ethereum Foundation Fellowship (financian proyectos de impacto real ya desplegados).</a:t>
            </a:r>
          </a:p>
        </p:txBody>
      </p:sp>
      <p:sp>
        <p:nvSpPr>
          <p:cNvPr id="5" name="Rounded Rectangle 4"/>
          <p:cNvSpPr/>
          <p:nvPr/>
        </p:nvSpPr>
        <p:spPr>
          <a:xfrm>
            <a:off x="6309360" y="1874519"/>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defRPr sz="1200" b="1">
                <a:solidFill>
                  <a:srgbClr val="2563EB"/>
                </a:solidFill>
              </a:defRPr>
            </a:pPr>
            <a:r>
              <a:t>HONESTIDAD ANTE EL JURADO</a:t>
            </a:r>
          </a:p>
          <a:p>
            <a:pPr>
              <a:spcBef>
                <a:spcPts val="400"/>
              </a:spcBef>
              <a:defRPr sz="1800" b="1">
                <a:solidFill>
                  <a:srgbClr val="0F172A"/>
                </a:solidFill>
              </a:defRPr>
            </a:pPr>
            <a:r>
              <a:t>Lo que falta y cómo operamos en la ley</a:t>
            </a:r>
          </a:p>
          <a:p>
            <a:pPr>
              <a:spcBef>
                <a:spcPts val="800"/>
              </a:spcBef>
              <a:defRPr sz="1200">
                <a:solidFill>
                  <a:srgbClr val="475569"/>
                </a:solidFill>
              </a:defRPr>
            </a:pPr>
            <a:r>
              <a:t>•  El papel del SEDES no se elimina por decreto propio: El piloto funciona como complemento de trazabilidad, no reemplazo unilateral.</a:t>
            </a:r>
          </a:p>
          <a:p>
            <a:pPr>
              <a:spcBef>
                <a:spcPts val="800"/>
              </a:spcBef>
              <a:defRPr sz="1200">
                <a:solidFill>
                  <a:srgbClr val="475569"/>
                </a:solidFill>
              </a:defRPr>
            </a:pPr>
            <a:r>
              <a:t>•  Fase 2: Doble firma digital con ADSIB para otorgar validez jurídica plena bajo la ley boliviana.</a:t>
            </a:r>
          </a:p>
          <a:p>
            <a:pPr>
              <a:spcBef>
                <a:spcPts val="800"/>
              </a:spcBef>
              <a:defRPr sz="1200">
                <a:solidFill>
                  <a:srgbClr val="475569"/>
                </a:solidFill>
              </a:defRPr>
            </a:pPr>
            <a:r>
              <a:t>•  Recetas Crónicas: Tratamientos psiquiátricos o dolor crónico mediante recetas escalonadas en el tiempo.</a:t>
            </a:r>
          </a:p>
          <a:p>
            <a:pPr>
              <a:spcBef>
                <a:spcPts val="800"/>
              </a:spcBef>
              <a:defRPr sz="1200">
                <a:solidFill>
                  <a:srgbClr val="475569"/>
                </a:solidFill>
              </a:defRPr>
            </a:pPr>
            <a:r>
              <a:t>•  Validación en terreno: Entrevistas con el Departamento de Farmacia del SEDES y farmacéuticos de Cochabamba.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9966960" cy="4754880"/>
          </a:xfrm>
          <a:prstGeom prst="rect">
            <a:avLst/>
          </a:prstGeom>
          <a:noFill/>
        </p:spPr>
        <p:txBody>
          <a:bodyPr wrap="square">
            <a:spAutoFit/>
          </a:bodyPr>
          <a:lstStyle/>
          <a:p>
            <a:pPr>
              <a:defRPr sz="1300" b="1">
                <a:solidFill>
                  <a:srgbClr val="0D9488"/>
                </a:solidFill>
              </a:defRPr>
            </a:pPr>
            <a:r>
              <a:t>BLOQUE 7 · EQUIPO Y PEDIDO (THE ASK)</a:t>
            </a:r>
          </a:p>
          <a:p>
            <a:pPr>
              <a:spcBef>
                <a:spcPts val="800"/>
              </a:spcBef>
              <a:defRPr sz="3600" b="1">
                <a:solidFill>
                  <a:srgbClr val="FFFFFF"/>
                </a:solidFill>
              </a:defRPr>
            </a:pPr>
            <a:r>
              <a:t>Llevando Ethereum al Mundo Real en Bolivia</a:t>
            </a:r>
          </a:p>
          <a:p>
            <a:pPr>
              <a:spcBef>
                <a:spcPts val="1200"/>
              </a:spcBef>
              <a:defRPr sz="1800">
                <a:solidFill>
                  <a:srgbClr val="CBD5E1"/>
                </a:solidFill>
              </a:defRPr>
            </a:pPr>
            <a:r>
              <a:t>Donde la inmutabilidad de la cadena salva vidas y erradica el desvío de sustancias controladas.</a:t>
            </a:r>
          </a:p>
          <a:p>
            <a:pPr>
              <a:spcBef>
                <a:spcPts val="2000"/>
              </a:spcBef>
              <a:defRPr sz="1600" b="1">
                <a:solidFill>
                  <a:srgbClr val="2563EB"/>
                </a:solidFill>
              </a:defRPr>
            </a:pPr>
            <a:r>
              <a:t>NUESTRO PEDIDO CONCRETO HOY:</a:t>
            </a:r>
          </a:p>
          <a:p>
            <a:pPr>
              <a:spcBef>
                <a:spcPts val="800"/>
              </a:spcBef>
              <a:defRPr sz="1700">
                <a:solidFill>
                  <a:srgbClr val="FFFFFF"/>
                </a:solidFill>
              </a:defRPr>
            </a:pPr>
            <a:r>
              <a:t>1. Conexión con el Departamento Regional de Farmacia del SEDES Cochabamba.</a:t>
            </a:r>
            <a:br/>
            <a:r>
              <a:t>2. Contacto con el Colegio Médico de Cochabamba para validar el emisor de credenciales EAS.</a:t>
            </a:r>
            <a:br/>
            <a:r>
              <a:t>3. Una clínica privada o farmacia para arrancar el primer piloto en circuito cerrado.</a:t>
            </a:r>
          </a:p>
          <a:p>
            <a:pPr>
              <a:spcBef>
                <a:spcPts val="2800"/>
              </a:spcBef>
              <a:defRPr sz="1350">
                <a:solidFill>
                  <a:srgbClr val="94A3B8"/>
                </a:solidFill>
              </a:defRPr>
            </a:pPr>
            <a:r>
              <a:t>Código abierto en GitHub · Contratos verificados en Base Sepolia · ¡Muchas gracias!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DIAPOSITIVA DE RESPALDO · PREGUNTAS DEL JURADO</a:t>
            </a:r>
          </a:p>
          <a:p>
            <a:pPr>
              <a:spcBef>
                <a:spcPts val="300"/>
              </a:spcBef>
              <a:defRPr sz="2300" b="1">
                <a:solidFill>
                  <a:srgbClr val="0F172A"/>
                </a:solidFill>
                <a:latin typeface="Arial"/>
              </a:defRPr>
            </a:pPr>
            <a:r>
              <a:t>¿Por qué enfocarse en Medicamentos Controlados y qué pasa con la Ley 913?</a:t>
            </a:r>
          </a:p>
          <a:p>
            <a:pPr>
              <a:spcBef>
                <a:spcPts val="200"/>
              </a:spcBef>
              <a:defRPr sz="1250">
                <a:solidFill>
                  <a:srgbClr val="475569"/>
                </a:solidFill>
                <a:latin typeface="Arial"/>
              </a:defRPr>
            </a:pPr>
            <a:r>
              <a:t>La defensa regulatoria y de alcance frente a las preguntas del tribunal.</a:t>
            </a:r>
          </a:p>
        </p:txBody>
      </p:sp>
      <p:sp>
        <p:nvSpPr>
          <p:cNvPr id="4" name="Rounded Rectangle 3"/>
          <p:cNvSpPr/>
          <p:nvPr/>
        </p:nvSpPr>
        <p:spPr>
          <a:xfrm>
            <a:off x="731520" y="1874519"/>
            <a:ext cx="106984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0" rIns="457200"/>
          <a:lstStyle/>
          <a:p>
            <a:pPr algn="ctr">
              <a:defRPr sz="1400" b="1">
                <a:solidFill>
                  <a:srgbClr val="DC2626"/>
                </a:solidFill>
              </a:defRPr>
            </a:pPr>
            <a:r>
              <a:t>RESPUESTA ANTE EL JURADO:</a:t>
            </a:r>
          </a:p>
          <a:p>
            <a:pPr>
              <a:spcBef>
                <a:spcPts val="1200"/>
              </a:spcBef>
              <a:defRPr sz="1450" b="1">
                <a:solidFill>
                  <a:srgbClr val="0F172A"/>
                </a:solidFill>
              </a:defRPr>
            </a:pPr>
            <a:r>
              <a:t>1. ¿Por qué no entran todos los medicamentos?</a:t>
            </a:r>
          </a:p>
          <a:p>
            <a:pPr>
              <a:spcBef>
                <a:spcPts val="300"/>
              </a:spcBef>
              <a:defRPr sz="1250">
                <a:solidFill>
                  <a:srgbClr val="475569"/>
                </a:solidFill>
              </a:defRPr>
            </a:pPr>
            <a:r>
              <a:t>Porque los medicamentos de venta libre o analgésicos comunes no justifican una verificación on-chain ni tienen incentivo de fraude. El costo/beneficio y la fricción tienen sentido exacto donde la ley exige unicidad absoluta: estupefacientes, psicotrópicos, opioides y fármacos de alto costo.</a:t>
            </a:r>
          </a:p>
          <a:p>
            <a:pPr>
              <a:spcBef>
                <a:spcPts val="1200"/>
              </a:spcBef>
              <a:defRPr sz="1450" b="1">
                <a:solidFill>
                  <a:srgbClr val="0F172A"/>
                </a:solidFill>
              </a:defRPr>
            </a:pPr>
            <a:r>
              <a:t>2. ¿Sustituye esto al formulario físico del SEDES mañana?</a:t>
            </a:r>
          </a:p>
          <a:p>
            <a:pPr>
              <a:spcBef>
                <a:spcPts val="300"/>
              </a:spcBef>
              <a:defRPr sz="1250">
                <a:solidFill>
                  <a:srgbClr val="475569"/>
                </a:solidFill>
              </a:defRPr>
            </a:pPr>
            <a:r>
              <a:t>No de forma unilateral. El formulario valorado es el mecanismo legal vigente fijado por la Ley 913 y el DS 3434. Nuestro sistema no infringe la ley: entra como una capa de verificación criptográfica complementaria que asienta el evento sin reemplazar el archivo físico hasta obtener la homologación oficial.</a:t>
            </a:r>
          </a:p>
          <a:p>
            <a:pPr>
              <a:spcBef>
                <a:spcPts val="1200"/>
              </a:spcBef>
              <a:defRPr sz="1450" b="1">
                <a:solidFill>
                  <a:srgbClr val="0F172A"/>
                </a:solidFill>
              </a:defRPr>
            </a:pPr>
            <a:r>
              <a:t>3. ¿Por qué el SEDES adoptaría esto?</a:t>
            </a:r>
          </a:p>
          <a:p>
            <a:pPr>
              <a:spcBef>
                <a:spcPts val="300"/>
              </a:spcBef>
              <a:defRPr sz="1250">
                <a:solidFill>
                  <a:srgbClr val="475569"/>
                </a:solidFill>
              </a:defRPr>
            </a:pPr>
            <a:r>
              <a:t>Porque hoy el SEDES audita libros físicos meses después de que los fármacos ya fueron desviados. Con este sistema, el SEDES puede consultar un panel de agregados en tiempo real (por prescriptor, farmacia y código ATC) sin violar la privacidad del paciente.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188720"/>
          </a:xfrm>
          <a:prstGeom prst="rect">
            <a:avLst/>
          </a:prstGeom>
          <a:noFill/>
        </p:spPr>
        <p:txBody>
          <a:bodyPr wrap="square" lIns="0" tIns="0" rIns="0" bIns="0">
            <a:spAutoFit/>
          </a:bodyPr>
          <a:lstStyle/>
          <a:p>
            <a:pPr>
              <a:defRPr sz="1100" b="1">
                <a:solidFill>
                  <a:srgbClr val="2563EB"/>
                </a:solidFill>
                <a:latin typeface="Arial"/>
              </a:defRPr>
            </a:pPr>
            <a:r>
              <a:t>DIAPOSITIVA DE RESPALDO · PREGUNTAS DEL JURADO</a:t>
            </a:r>
          </a:p>
          <a:p>
            <a:pPr>
              <a:spcBef>
                <a:spcPts val="300"/>
              </a:spcBef>
              <a:defRPr sz="2300" b="1">
                <a:solidFill>
                  <a:srgbClr val="0F172A"/>
                </a:solidFill>
                <a:latin typeface="Arial"/>
              </a:defRPr>
            </a:pPr>
            <a:r>
              <a:t>¿Por qué Blockchain y no una Base de Datos Centralizada con ADSIB?</a:t>
            </a:r>
          </a:p>
          <a:p>
            <a:pPr>
              <a:spcBef>
                <a:spcPts val="200"/>
              </a:spcBef>
              <a:defRPr sz="1250">
                <a:solidFill>
                  <a:srgbClr val="475569"/>
                </a:solidFill>
                <a:latin typeface="Arial"/>
              </a:defRPr>
            </a:pPr>
            <a:r>
              <a:t>La respuesta clave para el jurado técnico de Web3.</a:t>
            </a:r>
          </a:p>
        </p:txBody>
      </p:sp>
      <p:sp>
        <p:nvSpPr>
          <p:cNvPr id="4" name="Rounded Rectangle 3"/>
          <p:cNvSpPr/>
          <p:nvPr/>
        </p:nvSpPr>
        <p:spPr>
          <a:xfrm>
            <a:off x="731520" y="1874519"/>
            <a:ext cx="106984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0" rIns="457200"/>
          <a:lstStyle/>
          <a:p>
            <a:pPr algn="ctr">
              <a:defRPr sz="1400" b="1">
                <a:solidFill>
                  <a:srgbClr val="2563EB"/>
                </a:solidFill>
              </a:defRPr>
            </a:pPr>
            <a:r>
              <a:t>TRES RAZONES TÉCNICAS IRREFUTABLES:</a:t>
            </a:r>
          </a:p>
          <a:p>
            <a:pPr>
              <a:spcBef>
                <a:spcPts val="1200"/>
              </a:spcBef>
              <a:defRPr sz="1450" b="1">
                <a:solidFill>
                  <a:srgbClr val="0F172A"/>
                </a:solidFill>
              </a:defRPr>
            </a:pPr>
            <a:r>
              <a:t>1. La firma digital (ADSIB) da autoría, pero NO unicidad entre competidores.</a:t>
            </a:r>
          </a:p>
          <a:p>
            <a:pPr>
              <a:spcBef>
                <a:spcPts val="300"/>
              </a:spcBef>
              <a:defRPr sz="1250">
                <a:solidFill>
                  <a:srgbClr val="475569"/>
                </a:solidFill>
              </a:defRPr>
            </a:pPr>
            <a:r>
              <a:t>Si Farmacia Bolivia y Farmacia San Elías tienen bases de datos separadas, ninguna sabe qué se dispensó en la otra. Se requeriría un operador central monopólico en el que todas las farmacias rivales confíen.</a:t>
            </a:r>
          </a:p>
          <a:p>
            <a:pPr>
              <a:spcBef>
                <a:spcPts val="1200"/>
              </a:spcBef>
              <a:defRPr sz="1450" b="1">
                <a:solidFill>
                  <a:srgbClr val="0F172A"/>
                </a:solidFill>
              </a:defRPr>
            </a:pPr>
            <a:r>
              <a:t>2. Neutralidad interinstitucional sin monopolios privados.</a:t>
            </a:r>
          </a:p>
          <a:p>
            <a:pPr>
              <a:spcBef>
                <a:spcPts val="300"/>
              </a:spcBef>
              <a:defRPr sz="1250">
                <a:solidFill>
                  <a:srgbClr val="475569"/>
                </a:solidFill>
              </a:defRPr>
            </a:pPr>
            <a:r>
              <a:t>Ethereum L2 funciona como un libro contable neutral y compartido donde nadie puede alterar el estado de dispensación ni cobrar peajes abusivos.</a:t>
            </a:r>
          </a:p>
          <a:p>
            <a:pPr>
              <a:spcBef>
                <a:spcPts val="1200"/>
              </a:spcBef>
              <a:defRPr sz="1450" b="1">
                <a:solidFill>
                  <a:srgbClr val="0F172A"/>
                </a:solidFill>
              </a:defRPr>
            </a:pPr>
            <a:r>
              <a:t>3. Complementariedad legal y matemática.</a:t>
            </a:r>
          </a:p>
          <a:p>
            <a:pPr>
              <a:spcBef>
                <a:spcPts val="300"/>
              </a:spcBef>
              <a:defRPr sz="1250">
                <a:solidFill>
                  <a:srgbClr val="475569"/>
                </a:solidFill>
              </a:defRPr>
            </a:pPr>
            <a:r>
              <a:t>ADSIB aporta la validez jurídica de la firma médica bajo la legislación boliviana; el smart contract garantiza la imposibilidad física de la doble dispensación.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